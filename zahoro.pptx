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9"/>
  </p:notesMasterIdLst>
  <p:handoutMasterIdLst>
    <p:handoutMasterId r:id="rId10"/>
  </p:handoutMasterIdLst>
  <p:sldIdLst>
    <p:sldId id="256" r:id="rId3"/>
    <p:sldId id="263" r:id="rId4"/>
    <p:sldId id="264" r:id="rId5"/>
    <p:sldId id="262" r:id="rId6"/>
    <p:sldId id="265" r:id="rId7"/>
    <p:sldId id="266" r:id="rId8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9"/>
    <p:restoredTop sz="94108"/>
  </p:normalViewPr>
  <p:slideViewPr>
    <p:cSldViewPr snapToGrid="0">
      <p:cViewPr>
        <p:scale>
          <a:sx n="65" d="100"/>
          <a:sy n="65" d="100"/>
        </p:scale>
        <p:origin x="6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6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B88867-0B0F-6025-C6C1-F14297CA38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F2C81-6ED7-AE93-8492-A81D27178F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DCC2F-DFDB-3A44-AC4D-2867B398A886}" type="datetimeFigureOut">
              <a:rPr lang="en-JP" smtClean="0"/>
              <a:t>03/06/2026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A7AC2-11CE-6FC7-A5FB-1EEAE79BE8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457DC-CF7E-EDB3-9AA5-C4D450F1EA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101B9-1EA2-2349-A6B3-AFC8E791C0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95679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47A8B-C53E-8A45-904E-3D6349D7CE6F}" type="datetimeFigureOut">
              <a:rPr lang="en-JP" smtClean="0"/>
              <a:t>03/06/2026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CD117-AA63-124A-8D9C-1109428FE4B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638635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22CE-5B1C-1C17-01C8-452A21E72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E757C-15A8-2C78-B47F-3F5CAA399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F7DA7-EF86-7863-1314-12AA9EF5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B21B-941C-2544-BE6F-A4CA4AE75A0C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270FC-BA7E-3B02-694E-65667C6C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64ACA-3C83-1B35-6144-A2ECE7ED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5688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C6F60-D294-9836-2F5E-09559FFD5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6215"/>
          </a:xfrm>
        </p:spPr>
        <p:txBody>
          <a:bodyPr/>
          <a:lstStyle/>
          <a:p>
            <a:pPr lvl="0"/>
            <a:endParaRPr lang="en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FD16C-2B3C-32CD-7C55-C97FC00E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z="1100" kern="1200" smtClean="0">
                <a:solidFill>
                  <a:schemeClr val="tx1"/>
                </a:solidFill>
                <a:latin typeface="PT Serif" panose="020A0603040505020204" pitchFamily="18" charset="77"/>
                <a:ea typeface="+mn-ea"/>
                <a:cs typeface="+mn-cs"/>
              </a:defRPr>
            </a:lvl1pPr>
          </a:lstStyle>
          <a:p>
            <a:fld id="{3287B8C1-229B-A843-8832-776E978A5AB5}" type="datetime1">
              <a:rPr lang="en-JP" smtClean="0"/>
              <a:pPr/>
              <a:t>03/06/2026</a:t>
            </a:fld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C8A-81F2-4826-8481-6564CF03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r>
              <a:rPr lang="en-JP" dirty="0"/>
              <a:t>CSM-Proposed Research Title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CA869-447E-437C-2E9C-C18EC903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JP" sz="1100" kern="1200" smtClean="0">
                <a:solidFill>
                  <a:schemeClr val="tx1"/>
                </a:solidFill>
                <a:latin typeface="PT Serif" panose="020A0603040505020204" pitchFamily="18" charset="77"/>
                <a:ea typeface="+mn-ea"/>
                <a:cs typeface="+mn-cs"/>
              </a:defRPr>
            </a:lvl1pPr>
          </a:lstStyle>
          <a:p>
            <a:fld id="{6957B020-8EF8-7C4B-B484-E19B48514FE3}" type="slidenum">
              <a:rPr lang="en-JP" smtClean="0"/>
              <a:pPr/>
              <a:t>‹#›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75446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174B-AE1A-F76E-7BE2-CC9E02FE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1E6E0-A659-B96D-60F7-4B279674A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C9026-E93C-D439-E180-2100F711A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3F2AC-7F23-5F42-A4AA-91C31155FE40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201C8-26B7-7192-8EE9-55BDF2B5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C5FF7-DD10-C78B-7CFF-153F012A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6199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E6A6-76F7-49D9-D181-C1B3C89C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19E3-5123-613B-6946-20BC096C5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A2A93-8888-86CF-50DE-18D6C261A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0CF11-D36F-0605-B873-3CC60CBA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1EB2-E9B2-2243-8426-8F0BA0B7A0B2}" type="datetime1">
              <a:rPr lang="en-US" smtClean="0"/>
              <a:t>3/6/2026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68DAD-7D5E-1718-08E5-573BF278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5A19-C77F-6270-EB0A-4CC1FA7E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980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CC3B-A566-BC55-4B15-F535F076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2F71-74AC-739E-0D05-8114D3397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32CA3-B3B4-A34A-07D2-5CE777F38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59232-0FC9-3665-F198-0C21CE778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C1B081-2695-0384-9A5A-78D45123E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D7E9D-D2BC-236C-6C14-8110BB20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710B5-B660-7143-A093-4CC2C408A540}" type="datetime1">
              <a:rPr lang="en-US" smtClean="0"/>
              <a:t>3/6/2026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1AB46-9BBA-30C5-F800-9566DC9E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F6FAC-1BD1-50F9-D90F-B8722BF1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1013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2520-2515-6B8C-8526-B1B4676C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A86DC-FFEA-03AE-058A-10D23FE3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1D2E-257B-9B43-975D-62C6997EF89B}" type="datetime1">
              <a:rPr lang="en-US" smtClean="0"/>
              <a:t>3/6/2026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6ED97-32F7-92D9-DDFD-1517767E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4B82C-DAF1-7C68-1DBE-152B7DC4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3139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8A9D5-F18E-AD88-D140-BBB13BAE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A5C-328E-2644-AB2B-371C7EF54AE8}" type="datetime1">
              <a:rPr lang="en-US" smtClean="0"/>
              <a:t>3/6/2026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C1C5F-CA47-14EA-A629-14EF4CCF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92C17-9DED-6121-96DC-E4CAB35F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7908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4F04-67B0-1521-BCD1-9E51F95E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A3E2C-0789-6968-125D-22C6BCA2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6887D-CCD2-100A-6652-255CB918F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0E35F-DAAA-8B82-FC06-C8D08BC6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D9A4-8D7A-434E-80A0-6DC3E4E1BDFF}" type="datetime1">
              <a:rPr lang="en-US" smtClean="0"/>
              <a:t>3/6/2026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7208E-459A-968A-9F27-7239EDF6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B39AD-81A4-89A6-F9DB-EE1616F8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7099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1BD8-47D3-9018-8ADE-3DE2A632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A6E84-6433-1130-059A-0F60EAA08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6B36B-FD45-2B4E-1116-3C6BAFD9B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F0277-6CB1-BDCF-0F75-836177E4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30DE6-C43A-B64D-9438-D95AAB849A91}" type="datetime1">
              <a:rPr lang="en-US" smtClean="0"/>
              <a:t>3/6/2026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F40BB-8E05-0AB5-B945-E80E118C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40DA-80B3-579B-D183-0001E7C0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2229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EC69-31D5-29BE-5FC2-33D3DEC3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CD25A-6DB4-6E54-E123-9A138A28A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69F8F-CC23-8BEB-3CDB-78BA1E36D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B5597-550F-1B4E-BFDB-68174C7AAC58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A481-35D3-9FD9-6357-3CA2D789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B65FF-C727-7A8A-BBE8-03981602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1802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5C22B-DAAB-2FC2-AB94-8724608E1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1A690-C067-B4FB-E13B-489470990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DD10B-9A8F-5742-F357-B78566AE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8D0C-845C-5D4F-ABBF-BB15C9949321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7D916-1432-8006-002C-CFD8CFEA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18D5E-8C9C-7990-E02D-E1E044FF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21040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1425-43C0-E404-E157-6C71F553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AE6FE-1D45-9320-357B-F44C62DF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9D23-F2D6-2947-8BCB-6FFE99379BD7}" type="datetime1">
              <a:rPr lang="en-US" smtClean="0"/>
              <a:t>3/6/2026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4D978-EB6F-BC6D-2255-EA1C67B5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7E457-D072-43D1-278A-1516C9B6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6618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C5EF-7C91-A389-1D35-EC8D385B5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ADE2A-D913-516F-81BA-DA94C7E3B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8AEB-0D38-810D-76CF-B055B1F9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6267-4F86-5A41-8592-1ED404707BD8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67138-C922-2159-05E8-2A823CD4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EE946-C942-7026-5FDB-BDF95B53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28828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C92B-94F8-DD36-8CB7-9D8176F2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0D512-95C0-649D-4705-EBB4E8657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98C16-B25E-E2A0-5069-320498AC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14394-12AC-6F46-A3E0-9783717D5341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7EF17-1AA4-2B7A-3CC8-85C129EE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B0B1A-0BE4-AB15-E9DC-2B790A4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8748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DF77-4F5D-7F58-0595-2BC82897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A4595-5013-AD68-35E3-E8DF3BBB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33265-D9A2-6637-BAD6-014CA124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4152-1A69-7341-852D-E9CED6C66DCB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ABF73-BE88-8959-43D8-FC95C6E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87A4F-9E4E-8C01-F72A-34F06900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568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9928-B6E9-E20B-F408-B5A32865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68EA5-5465-578A-F438-440F393E3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EF847-D2EA-E96B-DCCA-4EB398773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2CF21-35C7-7778-CA45-A53336C1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EC3-6DC2-0243-938A-4D3D873F13B9}" type="datetime1">
              <a:rPr lang="en-US" smtClean="0"/>
              <a:t>3/6/2026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E7B7E-0E3C-8DD7-0D54-175A254C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2DC40-59AA-D814-F3D1-F3CEE5CE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42296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A3717-687C-C228-69FE-0F49FD7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F7EB5-B38C-7BF0-0526-B504A48AE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F72CA-4E35-105F-5AEC-048BCF8D6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7685E-CEDB-CF39-E7A4-7E77D4215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BAA45-57F2-FAD9-5116-042B0AE99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50E8A-9E44-65FC-FB1B-5E968928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0CE7D-A69E-4547-9395-20023B7F13C5}" type="datetime1">
              <a:rPr lang="en-US" smtClean="0"/>
              <a:t>3/6/2026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D3947-2352-D43B-6700-48950544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7C73E-7841-347B-24C6-E81B176E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37250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7AA4-CCBE-8917-7984-1E25EC53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27468-5BC6-1BF7-9D33-A205686F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E2EA-BA52-F54D-AE7F-D8F329F7DA3F}" type="datetime1">
              <a:rPr lang="en-US" smtClean="0"/>
              <a:t>3/6/2026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02ACA-BDE1-D677-5757-D8AFD616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47A98-A950-1ECA-1220-989C7F5C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5468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090965-6DAC-FCC0-B58E-F59E6097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5720-927B-B14F-AFC1-B364158B4AD3}" type="datetime1">
              <a:rPr lang="en-US" smtClean="0"/>
              <a:t>3/6/2026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CBD43-373A-92BB-08C4-F357DB04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6758C-689F-DB1C-E83F-5206FCFE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43237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A693-2555-BDA0-8873-77C8D6E7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9FF40-BF34-6F8E-D406-191B545E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B7E8F-6590-C1DA-06D5-97B0AEAAC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6CBE-83D6-EF66-4853-3CCF7DA2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B057-8314-924E-954D-CD394D3766D0}" type="datetime1">
              <a:rPr lang="en-US" smtClean="0"/>
              <a:t>3/6/2026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2F44C-AC62-D6E2-F1C9-057FA14D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2EA4D-3276-423C-010A-A8F4F716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25142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5737-0A66-21A0-4F20-D8BE24AD4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531944-8D4E-1C09-F958-BD040741B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65CA2-137A-83A5-7511-02636EFDB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48307-8B5E-CE57-9745-70831F97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3AEA-DF18-954B-8812-9A10CD32D58D}" type="datetime1">
              <a:rPr lang="en-US" smtClean="0"/>
              <a:t>3/6/2026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50DBC-5CF6-9A3C-DB9D-68C1658C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A99FC-E299-5173-A902-579027BA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206753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5B04-027A-DF79-8787-9A5FAEA3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BEC70-C4A8-6C43-AD7F-85F626DC6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D9304-9753-0C68-634B-E6AE181C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5C1D-DAFA-8645-8A69-F21356242C72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16D36-E6E0-78EF-FF13-C3DB40AF9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ADA34-EB8F-DDC1-B250-4B1A475A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30685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0CD3B-64EB-ABD0-C698-F228BF7E3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6E275-8472-D9C1-D521-3ABC1D512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E0B6-7924-996D-C60A-4D80BE31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7D3D-4FEF-0443-8338-BBDDE3F561CC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00E40-D987-1F22-DBB0-2CFBB495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D94B8-8557-8CF2-1B59-CB6BCCDD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9804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9433C-93FF-633E-7241-95677141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0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0A07F-FF68-E16A-7A7A-DEDA110F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6EDE8-44B9-CDFA-F97B-1721EB520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39A8-0DA6-494E-B5A3-3676C59963FC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5B2A4-13AA-23EF-4E0F-4368E3366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4C034-FB5F-45DC-A7DE-5A7C9B01E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7B020-8EF8-7C4B-B484-E19B48514FE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1634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93C3B-27B5-236F-843C-45CD7483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33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2E320-CFD5-DAAA-C55A-10D496A01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5488E-D229-5DC4-E098-204244D95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EDB35-0832-E44A-9928-5FF3DF52B9DA}" type="datetime1">
              <a:rPr lang="en-US" smtClean="0"/>
              <a:t>3/6/2026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6A0AF-B7AB-A3D8-524F-9E0945133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D0A73-B200-ADF6-9ED9-7FD0609AF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8759E-EFFE-AA46-A702-05C921D2B956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677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13C2-79DD-B47C-2E58-1CFA5CF2A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994" y="218099"/>
            <a:ext cx="11287432" cy="4098561"/>
          </a:xfrm>
        </p:spPr>
        <p:txBody>
          <a:bodyPr>
            <a:normAutofit fontScale="90000"/>
          </a:bodyPr>
          <a:lstStyle/>
          <a:p>
            <a:br>
              <a:rPr lang="en-JP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JP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JP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JP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JP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JP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PT Serif" panose="020A0603040505020204" pitchFamily="18" charset="0"/>
                <a:cs typeface="Arial" panose="020B0604020202020204" pitchFamily="34" charset="0"/>
              </a:rPr>
              <a:t>DEVELOPMENT OF A SECURED MULTI-TENANT PLATFORM FOR </a:t>
            </a:r>
            <a:r>
              <a:rPr lang="de-DE" dirty="0">
                <a:latin typeface="PT Serif" panose="020A0603040505020204" pitchFamily="18" charset="0"/>
              </a:rPr>
              <a:t>GOVERNMENT</a:t>
            </a:r>
            <a:r>
              <a:rPr lang="en-US" dirty="0">
                <a:latin typeface="PT Serif" panose="020A0603040505020204" pitchFamily="18" charset="0"/>
                <a:cs typeface="Arial" panose="020B0604020202020204" pitchFamily="34" charset="0"/>
              </a:rPr>
              <a:t> ASSETS MANAGEMENT</a:t>
            </a:r>
            <a:endParaRPr lang="en-JP" dirty="0">
              <a:latin typeface="PT Serif" panose="020A0603040505020204" pitchFamily="18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599F9-E239-0828-FA2B-00F997DF5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994" y="4925961"/>
            <a:ext cx="3974690" cy="1209368"/>
          </a:xfrm>
        </p:spPr>
        <p:txBody>
          <a:bodyPr>
            <a:normAutofit fontScale="92500" lnSpcReduction="10000"/>
          </a:bodyPr>
          <a:lstStyle/>
          <a:p>
            <a:endParaRPr lang="en-JP" dirty="0">
              <a:latin typeface="PT Serif" panose="020A0603040505020204" pitchFamily="18" charset="77"/>
            </a:endParaRPr>
          </a:p>
          <a:p>
            <a:r>
              <a:rPr lang="en-US" dirty="0" err="1">
                <a:latin typeface="PT Serif" panose="020A0603040505020204" pitchFamily="18" charset="77"/>
              </a:rPr>
              <a:t>Ms</a:t>
            </a:r>
            <a:r>
              <a:rPr lang="en-US" dirty="0">
                <a:latin typeface="PT Serif" panose="020A0603040505020204" pitchFamily="18" charset="77"/>
              </a:rPr>
              <a:t>   </a:t>
            </a:r>
            <a:r>
              <a:rPr lang="en-US" dirty="0" err="1">
                <a:latin typeface="PT Serif" panose="020A0603040505020204" pitchFamily="18" charset="77"/>
              </a:rPr>
              <a:t>summadile</a:t>
            </a:r>
            <a:r>
              <a:rPr lang="en-US" dirty="0">
                <a:latin typeface="PT Serif" panose="020A0603040505020204" pitchFamily="18" charset="77"/>
              </a:rPr>
              <a:t>, Zulfa</a:t>
            </a:r>
          </a:p>
          <a:p>
            <a:r>
              <a:rPr lang="en-US" dirty="0">
                <a:latin typeface="PT Serif" panose="020A0603040505020204" pitchFamily="18" charset="77"/>
              </a:rPr>
              <a:t>Mr.     Deusdedit, </a:t>
            </a:r>
            <a:r>
              <a:rPr lang="en-US" dirty="0" err="1">
                <a:latin typeface="PT Serif" panose="020A0603040505020204" pitchFamily="18" charset="77"/>
              </a:rPr>
              <a:t>Mwalongo</a:t>
            </a:r>
            <a:endParaRPr lang="en-US" dirty="0">
              <a:latin typeface="PT Serif" panose="020A0603040505020204" pitchFamily="18" charset="77"/>
            </a:endParaRPr>
          </a:p>
          <a:p>
            <a:endParaRPr lang="en-JP" dirty="0">
              <a:latin typeface="PT Serif" panose="020A0603040505020204" pitchFamily="18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4955F-3A45-17F5-41EE-B6BFC6EA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March 06, 2026</a:t>
            </a:r>
            <a:endParaRPr lang="en-JP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B35F4-232E-9C99-AB81-F3D2D9CD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1</a:t>
            </a:fld>
            <a:endParaRPr lang="en-JP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490CDDE-C6BD-7D17-D92A-46410546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r>
              <a:rPr lang="en-JP"/>
              <a:t>CSM-</a:t>
            </a:r>
            <a:r>
              <a:rPr lang="en-US" dirty="0"/>
              <a:t>Proposal Final Presentation</a:t>
            </a:r>
            <a:endParaRPr lang="en-JP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199531-48D1-EB4D-8870-086638D7C9B2}"/>
              </a:ext>
            </a:extLst>
          </p:cNvPr>
          <p:cNvSpPr txBox="1">
            <a:spLocks/>
          </p:cNvSpPr>
          <p:nvPr/>
        </p:nvSpPr>
        <p:spPr>
          <a:xfrm>
            <a:off x="6794088" y="5095067"/>
            <a:ext cx="5525731" cy="853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PT Serif" panose="020A0603040505020204" pitchFamily="18" charset="77"/>
              </a:rPr>
              <a:t>HEMED ZAHORO MOHAMED     30352/T.2023</a:t>
            </a:r>
          </a:p>
          <a:p>
            <a:r>
              <a:rPr lang="en-US" sz="2000" dirty="0">
                <a:latin typeface="PT Serif" panose="020A0603040505020204" pitchFamily="18" charset="77"/>
              </a:rPr>
              <a:t>BEDAH FREDRICK KABEHO         31678/T.2023</a:t>
            </a:r>
            <a:endParaRPr lang="en-JP" sz="2000" dirty="0">
              <a:latin typeface="PT Serif" panose="020A06030405050202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673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7C0B7B0-B9BC-50A8-B8DF-8D3E1719FFED}"/>
              </a:ext>
            </a:extLst>
          </p:cNvPr>
          <p:cNvSpPr txBox="1">
            <a:spLocks/>
          </p:cNvSpPr>
          <p:nvPr/>
        </p:nvSpPr>
        <p:spPr>
          <a:xfrm>
            <a:off x="94735" y="1512612"/>
            <a:ext cx="12021415" cy="48437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PT Serif" panose="020A0603040505020204" pitchFamily="18" charset="0"/>
              </a:rPr>
              <a:t>Government institutions manage large volumes of physical assets across multiple ministries and agencies using fragmented systems, manual records, and spreadsheets. </a:t>
            </a:r>
          </a:p>
          <a:p>
            <a:pPr marL="0" indent="0">
              <a:buNone/>
            </a:pPr>
            <a:r>
              <a:rPr lang="en-US" dirty="0">
                <a:latin typeface="PT Serif" panose="020A0603040505020204" pitchFamily="18" charset="0"/>
              </a:rPr>
              <a:t>These practices lead to poor data accuracy, high maintenance costs, weak accountability, and limited visibility of assets across organizations.</a:t>
            </a:r>
          </a:p>
          <a:p>
            <a:pPr marL="0" indent="0">
              <a:buNone/>
            </a:pPr>
            <a:r>
              <a:rPr lang="en-JP" b="1" dirty="0">
                <a:latin typeface="PT Serif" panose="020A0603040505020204" pitchFamily="18" charset="77"/>
              </a:rPr>
              <a:t>1.2</a:t>
            </a:r>
            <a:r>
              <a:rPr lang="en-US" b="1" dirty="0">
                <a:latin typeface="PT Serif" panose="020A0603040505020204" pitchFamily="18" charset="77"/>
              </a:rPr>
              <a:t> Research Gap and Solution</a:t>
            </a:r>
            <a:endParaRPr lang="en-JP" b="1" dirty="0">
              <a:latin typeface="PT Serif" panose="020A0603040505020204" pitchFamily="18" charset="77"/>
            </a:endParaRPr>
          </a:p>
          <a:p>
            <a:r>
              <a:rPr lang="en-US" b="1" dirty="0"/>
              <a:t>Gap: </a:t>
            </a:r>
            <a:r>
              <a:rPr lang="en-US" dirty="0">
                <a:latin typeface="PT Serif" panose="020A0603040505020204" pitchFamily="18" charset="0"/>
              </a:rPr>
              <a:t>Government institutions lack a secure multi-tenant platform that ensures data isolation between institutions. This leaves asset records vulnerable to unauthorized access, manipulation, and fraud.</a:t>
            </a:r>
          </a:p>
          <a:p>
            <a:r>
              <a:rPr lang="en-US" b="1" dirty="0"/>
              <a:t>Solution: </a:t>
            </a:r>
            <a:r>
              <a:rPr lang="en-US" dirty="0">
                <a:latin typeface="PT Serif" panose="020A0603040505020204" pitchFamily="18" charset="0"/>
              </a:rPr>
              <a:t>This study develops a secure multi-tenant asset management platform ensuring each ministry operates in isolated environment.</a:t>
            </a:r>
          </a:p>
          <a:p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32C0B-8229-9658-F72F-6474A018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84"/>
            <a:ext cx="10515600" cy="841029"/>
          </a:xfrm>
        </p:spPr>
        <p:txBody>
          <a:bodyPr/>
          <a:lstStyle/>
          <a:p>
            <a:pPr algn="ctr"/>
            <a:r>
              <a:rPr lang="en-JP" sz="4400" b="1" dirty="0">
                <a:latin typeface="PT Serif" panose="020A0603040505020204" pitchFamily="18" charset="77"/>
              </a:rPr>
              <a:t>Problem statement</a:t>
            </a:r>
            <a:endParaRPr lang="en-JP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3FFFB-CD0B-2A36-F0B3-C8AE5CCA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488" y="6356350"/>
            <a:ext cx="2743200" cy="365125"/>
          </a:xfrm>
        </p:spPr>
        <p:txBody>
          <a:bodyPr/>
          <a:lstStyle/>
          <a:p>
            <a:r>
              <a:rPr lang="en-US" dirty="0"/>
              <a:t>March 06, 2026</a:t>
            </a:r>
            <a:endParaRPr lang="en-JP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87D91-1B68-9D43-6A0A-7CBCBB20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2</a:t>
            </a:fld>
            <a:endParaRPr lang="en-JP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FC87055-3C28-41CD-4FFC-15933E9816FF}"/>
              </a:ext>
            </a:extLst>
          </p:cNvPr>
          <p:cNvSpPr txBox="1">
            <a:spLocks/>
          </p:cNvSpPr>
          <p:nvPr/>
        </p:nvSpPr>
        <p:spPr>
          <a:xfrm>
            <a:off x="397985" y="981121"/>
            <a:ext cx="3228205" cy="5667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JP" sz="3200" b="1" dirty="0">
                <a:latin typeface="PT Serif" panose="020A0603040505020204" pitchFamily="18" charset="77"/>
              </a:rPr>
              <a:t>1.0 Context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D9488EB-896F-E116-50FB-5815BF3A7B9A}"/>
              </a:ext>
            </a:extLst>
          </p:cNvPr>
          <p:cNvSpPr txBox="1">
            <a:spLocks/>
          </p:cNvSpPr>
          <p:nvPr/>
        </p:nvSpPr>
        <p:spPr>
          <a:xfrm>
            <a:off x="478822" y="4148145"/>
            <a:ext cx="11618443" cy="1453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JP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B114E8-A4A0-EEE7-3A07-E9B7015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r>
              <a:rPr lang="en-JP"/>
              <a:t>CSM-</a:t>
            </a:r>
            <a:r>
              <a:rPr lang="en-US" dirty="0"/>
              <a:t>Proposal Final Presentation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8451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7C0B7B0-B9BC-50A8-B8DF-8D3E1719FFED}"/>
              </a:ext>
            </a:extLst>
          </p:cNvPr>
          <p:cNvSpPr txBox="1">
            <a:spLocks/>
          </p:cNvSpPr>
          <p:nvPr/>
        </p:nvSpPr>
        <p:spPr>
          <a:xfrm>
            <a:off x="384087" y="1135545"/>
            <a:ext cx="11713178" cy="840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PT Serif" panose="020A0603040505020204" pitchFamily="18" charset="0"/>
              </a:rPr>
              <a:t>To develop a secured multi-tenant platform for effective government asset management that enables centralized administration</a:t>
            </a:r>
          </a:p>
          <a:p>
            <a:endParaRPr lang="en-JP" dirty="0">
              <a:solidFill>
                <a:srgbClr val="C00000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3FFFB-CD0B-2A36-F0B3-C8AE5CCA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488" y="6356350"/>
            <a:ext cx="2743200" cy="365125"/>
          </a:xfrm>
        </p:spPr>
        <p:txBody>
          <a:bodyPr/>
          <a:lstStyle/>
          <a:p>
            <a:r>
              <a:rPr lang="en-US" dirty="0"/>
              <a:t>March 06, 2026</a:t>
            </a:r>
            <a:endParaRPr lang="en-JP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87D91-1B68-9D43-6A0A-7CBCBB20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3</a:t>
            </a:fld>
            <a:endParaRPr lang="en-JP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FC87055-3C28-41CD-4FFC-15933E9816FF}"/>
              </a:ext>
            </a:extLst>
          </p:cNvPr>
          <p:cNvSpPr txBox="1">
            <a:spLocks/>
          </p:cNvSpPr>
          <p:nvPr/>
        </p:nvSpPr>
        <p:spPr>
          <a:xfrm>
            <a:off x="478820" y="503477"/>
            <a:ext cx="4451525" cy="5667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JP" sz="3200" b="1" dirty="0">
                <a:latin typeface="PT Serif" panose="020A0603040505020204" pitchFamily="18" charset="77"/>
              </a:rPr>
              <a:t>2.0 General Objective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B4B09D-1511-C7CE-9EB0-3452417C0CC2}"/>
              </a:ext>
            </a:extLst>
          </p:cNvPr>
          <p:cNvSpPr txBox="1">
            <a:spLocks/>
          </p:cNvSpPr>
          <p:nvPr/>
        </p:nvSpPr>
        <p:spPr>
          <a:xfrm>
            <a:off x="431454" y="2147749"/>
            <a:ext cx="4451524" cy="607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JP" sz="3200" b="1" dirty="0">
                <a:latin typeface="PT Serif" panose="020A0603040505020204" pitchFamily="18" charset="77"/>
              </a:rPr>
              <a:t>2.1 Specific objective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D9488EB-896F-E116-50FB-5815BF3A7B9A}"/>
              </a:ext>
            </a:extLst>
          </p:cNvPr>
          <p:cNvSpPr txBox="1">
            <a:spLocks/>
          </p:cNvSpPr>
          <p:nvPr/>
        </p:nvSpPr>
        <p:spPr>
          <a:xfrm>
            <a:off x="431454" y="2841465"/>
            <a:ext cx="11618443" cy="3598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r>
              <a:rPr lang="en-US" sz="3300" dirty="0">
                <a:latin typeface="PT Serif" panose="020A0603040505020204" pitchFamily="18" charset="0"/>
              </a:rPr>
              <a:t>To identify and gather requirements for a secured multi-tenant platform for government asset management </a:t>
            </a: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r>
              <a:rPr lang="en-US" sz="3300" dirty="0">
                <a:latin typeface="PT Serif" panose="020A0603040505020204" pitchFamily="18" charset="0"/>
                <a:cs typeface="Arial" panose="020B0604020202020204" pitchFamily="34" charset="0"/>
              </a:rPr>
              <a:t>To design a secure multi-tenant system architecture for asset management.</a:t>
            </a: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r>
              <a:rPr lang="en-US" sz="3300" dirty="0">
                <a:latin typeface="PT Serif" panose="020A0603040505020204" pitchFamily="18" charset="0"/>
                <a:cs typeface="Arial" panose="020B0604020202020204" pitchFamily="34" charset="0"/>
              </a:rPr>
              <a:t>To develop a platform a secured multi-tenant web platform</a:t>
            </a: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r>
              <a:rPr lang="en-US" sz="3300" dirty="0">
                <a:latin typeface="PT Serif" panose="020A0603040505020204" pitchFamily="18" charset="0"/>
              </a:rPr>
              <a:t>To test and validate the developed platform in terms of security, functionality, and performance</a:t>
            </a:r>
            <a:endParaRPr lang="en-US" sz="3300" dirty="0">
              <a:latin typeface="PT Serif" panose="020A0603040505020204" pitchFamily="18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endParaRPr lang="en-US" dirty="0">
              <a:latin typeface="PT Serif" panose="020A0603040505020204" pitchFamily="18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endParaRPr lang="en-US" dirty="0">
              <a:latin typeface="PT Serif" panose="020A0603040505020204" pitchFamily="18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endParaRPr lang="en-US" dirty="0">
              <a:latin typeface="PT Serif" panose="020A0603040505020204" pitchFamily="18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endParaRPr lang="en-US" dirty="0">
              <a:latin typeface="PT Serif" panose="020A0603040505020204" pitchFamily="18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endParaRPr lang="en-TZ" dirty="0">
              <a:latin typeface="PT Serif" panose="020A06030405050202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endParaRPr lang="en-US" dirty="0">
              <a:latin typeface="PT Serif" panose="020A0603040505020204" pitchFamily="18" charset="0"/>
            </a:endParaRPr>
          </a:p>
          <a:p>
            <a:pPr marL="571500" indent="-571500">
              <a:lnSpc>
                <a:spcPct val="110000"/>
              </a:lnSpc>
              <a:buFont typeface="+mj-lt"/>
              <a:buAutoNum type="romanLcPeriod"/>
            </a:pPr>
            <a:endParaRPr lang="en-JP" dirty="0">
              <a:latin typeface="PT Serif" panose="020A0603040505020204" pitchFamily="18" charset="0"/>
            </a:endParaRPr>
          </a:p>
          <a:p>
            <a:pPr>
              <a:lnSpc>
                <a:spcPct val="110000"/>
              </a:lnSpc>
            </a:pPr>
            <a:endParaRPr lang="en-JP" sz="2700" dirty="0">
              <a:latin typeface="PT Serif" panose="020A0603040505020204" pitchFamily="18" charset="0"/>
            </a:endParaRPr>
          </a:p>
          <a:p>
            <a:pPr marL="571500" indent="-571500">
              <a:buFont typeface="+mj-lt"/>
              <a:buAutoNum type="romanLcPeriod"/>
            </a:pPr>
            <a:endParaRPr lang="en-JP" dirty="0">
              <a:latin typeface="PT Serif" panose="020A0603040505020204" pitchFamily="18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C4A81A4-BEF9-EC5C-4306-08472BA7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r>
              <a:rPr lang="en-JP" dirty="0"/>
              <a:t>CSM-</a:t>
            </a:r>
            <a:r>
              <a:rPr lang="en-US" dirty="0"/>
              <a:t>Proposal Final Presentation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0144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6D1AC-C1D5-69C6-E263-195D2349B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3341" y="1737367"/>
            <a:ext cx="9245762" cy="368683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PT Serif" panose="020A0603040505020204" pitchFamily="18" charset="77"/>
              </a:rPr>
              <a:t>This study adopts an Agile development methodology, Agile was selected due to its iterative nature, allowing continuous testing and refinement of features. </a:t>
            </a:r>
          </a:p>
          <a:p>
            <a:pPr marL="0" indent="0">
              <a:buNone/>
            </a:pPr>
            <a:endParaRPr lang="en-US" dirty="0">
              <a:latin typeface="PT Serif" panose="020A0603040505020204" pitchFamily="18" charset="77"/>
            </a:endParaRPr>
          </a:p>
          <a:p>
            <a:r>
              <a:rPr lang="en-US" dirty="0">
                <a:latin typeface="PT Serif" panose="020A0603040505020204" pitchFamily="18" charset="77"/>
              </a:rPr>
              <a:t>For the development of a </a:t>
            </a:r>
            <a:r>
              <a:rPr lang="de-DE" dirty="0">
                <a:latin typeface="PT Serif" panose="020A0603040505020204" pitchFamily="18" charset="0"/>
              </a:rPr>
              <a:t>government asset management platform</a:t>
            </a:r>
            <a:r>
              <a:rPr lang="en-US" dirty="0">
                <a:latin typeface="PT Serif" panose="020A0603040505020204" pitchFamily="18" charset="0"/>
              </a:rPr>
              <a:t>, Agile  ensures that each module like authentication, role-based access control, multi-tenant isolation, and audit trails  is developed, tested, and reviewed independently before integration.</a:t>
            </a:r>
          </a:p>
          <a:p>
            <a:pPr marL="0" indent="0">
              <a:buNone/>
            </a:pPr>
            <a:endParaRPr lang="en-JP" dirty="0">
              <a:latin typeface="PT Serif" panose="020A06030405050202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DAC8ED-103D-6189-DC6E-E74281B689E1}"/>
              </a:ext>
            </a:extLst>
          </p:cNvPr>
          <p:cNvSpPr txBox="1">
            <a:spLocks/>
          </p:cNvSpPr>
          <p:nvPr/>
        </p:nvSpPr>
        <p:spPr>
          <a:xfrm>
            <a:off x="1048266" y="560077"/>
            <a:ext cx="3461950" cy="5667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JP" sz="3000" b="1" dirty="0">
                <a:latin typeface="PT Serif" panose="020A0603040505020204" pitchFamily="18" charset="77"/>
              </a:rPr>
              <a:t>3.0 Methodolgy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A26619-F5D1-5378-0253-45D5A8E868BE}"/>
              </a:ext>
            </a:extLst>
          </p:cNvPr>
          <p:cNvSpPr txBox="1">
            <a:spLocks/>
          </p:cNvSpPr>
          <p:nvPr/>
        </p:nvSpPr>
        <p:spPr>
          <a:xfrm>
            <a:off x="1048266" y="1130225"/>
            <a:ext cx="5331019" cy="607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latin typeface="PT Serif" panose="020A0603040505020204" pitchFamily="18" charset="77"/>
              </a:rPr>
              <a:t>3.1 General Methodology</a:t>
            </a:r>
            <a:endParaRPr lang="en-JP" sz="3000" b="1" dirty="0">
              <a:latin typeface="PT Serif" panose="020A0603040505020204" pitchFamily="18" charset="77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AF6B-9165-8326-AF59-5510E087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March 06, 2026</a:t>
            </a:r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0F2B7-92BD-63DE-0942-7AB5FA5C4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759E-EFFE-AA46-A702-05C921D2B956}" type="slidenum">
              <a:rPr lang="en-JP" smtClean="0"/>
              <a:t>4</a:t>
            </a:fld>
            <a:endParaRPr lang="en-JP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517D03F-8A84-53D3-81BB-637CABF1B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r>
              <a:rPr lang="en-JP"/>
              <a:t>CSM-</a:t>
            </a:r>
            <a:r>
              <a:rPr lang="en-US" dirty="0"/>
              <a:t>Proposal Final Presentation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93346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3FFFB-CD0B-2A36-F0B3-C8AE5CCA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488" y="6356350"/>
            <a:ext cx="2743200" cy="365125"/>
          </a:xfrm>
        </p:spPr>
        <p:txBody>
          <a:bodyPr/>
          <a:lstStyle/>
          <a:p>
            <a:r>
              <a:rPr lang="en-US" dirty="0"/>
              <a:t>March 06, 2026</a:t>
            </a:r>
            <a:endParaRPr lang="en-JP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87D91-1B68-9D43-6A0A-7CBCBB20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5</a:t>
            </a:fld>
            <a:endParaRPr lang="en-J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317E7-10CE-191D-8AE0-D734C97E4217}"/>
              </a:ext>
            </a:extLst>
          </p:cNvPr>
          <p:cNvSpPr txBox="1"/>
          <p:nvPr/>
        </p:nvSpPr>
        <p:spPr>
          <a:xfrm>
            <a:off x="7826477" y="136525"/>
            <a:ext cx="43655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erif" panose="020A0603040505020204" pitchFamily="18" charset="0"/>
                <a:cs typeface="Arial" panose="020B0604020202020204" pitchFamily="34" charset="0"/>
              </a:rPr>
              <a:t>DEVELOPMENT OF A SECURED MULT-TENANT PLATFOTM FOR GOVERMENT ASSETS MANAGEMENT</a:t>
            </a:r>
            <a:endParaRPr lang="en-JP" dirty="0">
              <a:latin typeface="PT Serif" panose="020A06030405050202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FC87055-3C28-41CD-4FFC-15933E9816FF}"/>
              </a:ext>
            </a:extLst>
          </p:cNvPr>
          <p:cNvSpPr txBox="1">
            <a:spLocks/>
          </p:cNvSpPr>
          <p:nvPr/>
        </p:nvSpPr>
        <p:spPr>
          <a:xfrm>
            <a:off x="550901" y="390033"/>
            <a:ext cx="3487699" cy="5667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JP" sz="3200" b="1" dirty="0">
                <a:latin typeface="PT Serif" panose="020A0603040505020204" pitchFamily="18" charset="77"/>
              </a:rPr>
              <a:t>3.0 Methodology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688BD5-2837-4109-0CEA-D2799AD01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672181"/>
              </p:ext>
            </p:extLst>
          </p:nvPr>
        </p:nvGraphicFramePr>
        <p:xfrm>
          <a:off x="201561" y="1111374"/>
          <a:ext cx="11788878" cy="533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7549">
                  <a:extLst>
                    <a:ext uri="{9D8B030D-6E8A-4147-A177-3AD203B41FA5}">
                      <a16:colId xmlns:a16="http://schemas.microsoft.com/office/drawing/2014/main" val="4118426611"/>
                    </a:ext>
                  </a:extLst>
                </a:gridCol>
                <a:gridCol w="2752999">
                  <a:extLst>
                    <a:ext uri="{9D8B030D-6E8A-4147-A177-3AD203B41FA5}">
                      <a16:colId xmlns:a16="http://schemas.microsoft.com/office/drawing/2014/main" val="3195462757"/>
                    </a:ext>
                  </a:extLst>
                </a:gridCol>
                <a:gridCol w="2469478">
                  <a:extLst>
                    <a:ext uri="{9D8B030D-6E8A-4147-A177-3AD203B41FA5}">
                      <a16:colId xmlns:a16="http://schemas.microsoft.com/office/drawing/2014/main" val="1782394590"/>
                    </a:ext>
                  </a:extLst>
                </a:gridCol>
                <a:gridCol w="2118852">
                  <a:extLst>
                    <a:ext uri="{9D8B030D-6E8A-4147-A177-3AD203B41FA5}">
                      <a16:colId xmlns:a16="http://schemas.microsoft.com/office/drawing/2014/main" val="695837451"/>
                    </a:ext>
                  </a:extLst>
                </a:gridCol>
              </a:tblGrid>
              <a:tr h="39493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PT Serif" panose="020A0603040505020204" pitchFamily="18" charset="77"/>
                        </a:rPr>
                        <a:t>Specific Objectives</a:t>
                      </a:r>
                      <a:endParaRPr lang="en-JP" sz="2000" b="1" dirty="0">
                        <a:latin typeface="PT Serif" panose="020A0603040505020204" pitchFamily="18" charset="7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PT Serif" panose="020A0603040505020204" pitchFamily="18" charset="77"/>
                        </a:rPr>
                        <a:t>Methodology</a:t>
                      </a:r>
                      <a:endParaRPr lang="en-JP" sz="2000" b="1" dirty="0">
                        <a:latin typeface="PT Serif" panose="020A0603040505020204" pitchFamily="18" charset="7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PT Serif" panose="020A0603040505020204" pitchFamily="18" charset="77"/>
                        </a:rPr>
                        <a:t>Tools</a:t>
                      </a:r>
                      <a:endParaRPr lang="en-JP" sz="2000" b="1" dirty="0">
                        <a:latin typeface="PT Serif" panose="020A0603040505020204" pitchFamily="18" charset="7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PT Serif" panose="020A0603040505020204" pitchFamily="18" charset="77"/>
                        </a:rPr>
                        <a:t>Deliverable</a:t>
                      </a:r>
                      <a:endParaRPr lang="en-JP" sz="2000" b="1" dirty="0">
                        <a:latin typeface="PT Serif" panose="020A0603040505020204" pitchFamily="18" charset="7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42582"/>
                  </a:ext>
                </a:extLst>
              </a:tr>
              <a:tr h="10025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T Serif" panose="020A0603040505020204" pitchFamily="18" charset="0"/>
                        </a:rPr>
                        <a:t>To identify and gather requirements for a secured multi-tenant platform for government asset management</a:t>
                      </a:r>
                      <a:endParaRPr lang="en-US" sz="2000" dirty="0">
                        <a:latin typeface="PT Serif" panose="020A0603040505020204" pitchFamily="18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PT Serif" panose="020A0603040505020204" pitchFamily="18" charset="0"/>
                        </a:rPr>
                        <a:t>Literature review, document analysis, user interviews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T Serif" panose="020A0603040505020204" pitchFamily="18" charset="0"/>
                        </a:rPr>
                        <a:t>Research papers, interview guides, Google Scholar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PT Serif" panose="020A0603040505020204" pitchFamily="18" charset="0"/>
                        </a:rPr>
                        <a:t>Requirements analysis report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19480"/>
                  </a:ext>
                </a:extLst>
              </a:tr>
              <a:tr h="8220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T Serif" panose="020A0603040505020204" pitchFamily="18" charset="0"/>
                          <a:cs typeface="Arial" panose="020B0604020202020204" pitchFamily="34" charset="0"/>
                        </a:rPr>
                        <a:t>To design a secure multi-tenant system architecture for asset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T Serif" panose="020A0603040505020204" pitchFamily="18" charset="0"/>
                          <a:cs typeface="Arial" panose="020B0604020202020204" pitchFamily="34" charset="0"/>
                        </a:rPr>
                        <a:t>management</a:t>
                      </a:r>
                      <a:endParaRPr lang="en-JP" sz="2000" dirty="0">
                        <a:latin typeface="PT Serif" panose="020A0603040505020204" pitchFamily="18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T Serif" panose="020A0603040505020204" pitchFamily="18" charset="0"/>
                        </a:rPr>
                        <a:t>UML-based structured design: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PT Serif" panose="020A0603040505020204" pitchFamily="18" charset="0"/>
                        </a:rPr>
                        <a:t>Draw.io, MySQL Workbench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T Serif" panose="020A0603040505020204" pitchFamily="18" charset="77"/>
                        </a:rPr>
                        <a:t>System design document</a:t>
                      </a:r>
                      <a:endParaRPr lang="en-JP" sz="2000" dirty="0">
                        <a:latin typeface="PT Serif" panose="020A0603040505020204" pitchFamily="18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39247"/>
                  </a:ext>
                </a:extLst>
              </a:tr>
              <a:tr h="1610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T Serif" panose="020A0603040505020204" pitchFamily="18" charset="0"/>
                          <a:cs typeface="Arial" panose="020B0604020202020204" pitchFamily="34" charset="0"/>
                        </a:rPr>
                        <a:t>To develop a platform a secured multi-tenant web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T Serif" panose="020A0603040505020204" pitchFamily="18" charset="0"/>
                        </a:rPr>
                        <a:t>Agile Software  development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latin typeface="PT Serif" panose="020A0603040505020204" pitchFamily="18" charset="0"/>
                        </a:rPr>
                        <a:t>Django, DRF, django-tenants, Keycloak, Simple JWT, MySQl, HTML,CSS, JS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T Serif" panose="020A0603040505020204" pitchFamily="18" charset="0"/>
                        </a:rPr>
                        <a:t>Fully functional secured multi-tenant web platform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JP" sz="2000" dirty="0">
                        <a:latin typeface="PT Serif" panose="020A0603040505020204" pitchFamily="18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18085"/>
                  </a:ext>
                </a:extLst>
              </a:tr>
              <a:tr h="982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T Serif" panose="020A0603040505020204" pitchFamily="18" charset="0"/>
                        </a:rPr>
                        <a:t>To test and validate the developed platform in terms of security, functionality, and performance</a:t>
                      </a:r>
                      <a:endParaRPr lang="en-US" sz="2000" dirty="0">
                        <a:latin typeface="PT Serif" panose="020A060304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>
                          <a:latin typeface="PT Serif" panose="020A0603040505020204" pitchFamily="18" charset="0"/>
                          <a:cs typeface="Arial" panose="020B0604020202020204" pitchFamily="34" charset="0"/>
                        </a:rPr>
                        <a:t>unit testing,</a:t>
                      </a:r>
                    </a:p>
                    <a:p>
                      <a:r>
                        <a:rPr lang="de-DE" sz="2000" dirty="0">
                          <a:latin typeface="PT Serif" panose="020A0603040505020204" pitchFamily="18" charset="0"/>
                          <a:cs typeface="Arial" panose="020B0604020202020204" pitchFamily="34" charset="0"/>
                        </a:rPr>
                        <a:t>Integration testing, and security testing</a:t>
                      </a:r>
                      <a:endParaRPr lang="en-TZ" sz="2000" dirty="0">
                        <a:latin typeface="PT Serif" panose="020A06030405050202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latin typeface="PT Serif" panose="020A0603040505020204" pitchFamily="18" charset="0"/>
                        </a:rPr>
                        <a:t>pytest-django, Postman, OWASP ZAP, Locust, Chrome DevTools</a:t>
                      </a:r>
                      <a:endParaRPr lang="en-JP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>
                          <a:latin typeface="PT Serif" panose="020A0603040505020204" pitchFamily="18" charset="0"/>
                          <a:cs typeface="Arial" panose="020B0604020202020204" pitchFamily="34" charset="0"/>
                        </a:rPr>
                        <a:t>Tested and validated system</a:t>
                      </a:r>
                      <a:endParaRPr lang="en-TZ" sz="2000" dirty="0">
                        <a:latin typeface="PT Serif" panose="020A06030405050202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JP" sz="2000" dirty="0">
                        <a:latin typeface="PT Serif" panose="020A0603040505020204" pitchFamily="18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04604"/>
                  </a:ext>
                </a:extLst>
              </a:tr>
            </a:tbl>
          </a:graphicData>
        </a:graphic>
      </p:graphicFrame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B394E2D-183C-E1A9-D1BF-2BAAC7B9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3855"/>
            <a:ext cx="41148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r>
              <a:rPr lang="en-JP"/>
              <a:t>CSM-</a:t>
            </a:r>
            <a:r>
              <a:rPr lang="en-US" dirty="0"/>
              <a:t>Proposal Final Presentation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7346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19C00-B532-2B22-628D-FC8428C5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March 06, 2026</a:t>
            </a:r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6ADCF-7E94-65A4-1C44-409744E2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B020-8EF8-7C4B-B484-E19B48514FE3}" type="slidenum">
              <a:rPr lang="en-JP" smtClean="0"/>
              <a:t>6</a:t>
            </a:fld>
            <a:endParaRPr lang="en-JP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4538A-32DF-CCF1-65A1-DF7407072A32}"/>
              </a:ext>
            </a:extLst>
          </p:cNvPr>
          <p:cNvSpPr txBox="1"/>
          <p:nvPr/>
        </p:nvSpPr>
        <p:spPr>
          <a:xfrm>
            <a:off x="3581400" y="2388197"/>
            <a:ext cx="5501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THANKS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99B200A-02A4-9B0E-C144-9D136DDF0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PT Serif" panose="020A0603040505020204" pitchFamily="18" charset="77"/>
              </a:defRPr>
            </a:lvl1pPr>
          </a:lstStyle>
          <a:p>
            <a:r>
              <a:rPr lang="en-JP"/>
              <a:t>CSM-</a:t>
            </a:r>
            <a:r>
              <a:rPr lang="en-US" dirty="0"/>
              <a:t>Proposal Final Presentation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96747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489</Words>
  <Application>Microsoft Office PowerPoint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PT Serif</vt:lpstr>
      <vt:lpstr>Office Theme</vt:lpstr>
      <vt:lpstr>Custom Design</vt:lpstr>
      <vt:lpstr>      DEVELOPMENT OF A SECURED MULTI-TENANT PLATFORM FOR GOVERNMENT ASSETS MANAGEMENT</vt:lpstr>
      <vt:lpstr>Problem statement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CSM-TITLE PRESENTAION</dc:title>
  <dc:creator>Eunice_David Likotiko</dc:creator>
  <cp:lastModifiedBy>hemed zahor</cp:lastModifiedBy>
  <cp:revision>9</cp:revision>
  <dcterms:created xsi:type="dcterms:W3CDTF">2023-12-13T17:48:18Z</dcterms:created>
  <dcterms:modified xsi:type="dcterms:W3CDTF">2026-03-06T03:36:54Z</dcterms:modified>
</cp:coreProperties>
</file>