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8" r:id="rId4"/>
    <p:sldId id="270" r:id="rId5"/>
    <p:sldId id="272" r:id="rId6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3"/>
  </p:normalViewPr>
  <p:slideViewPr>
    <p:cSldViewPr snapToGrid="0">
      <p:cViewPr varScale="1">
        <p:scale>
          <a:sx n="80" d="100"/>
          <a:sy n="80" d="100"/>
        </p:scale>
        <p:origin x="170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2EE2-9211-D571-98B4-E8FE3D52A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73814-3FC1-4856-9B03-55998E0B5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70976-A660-F131-C5DD-A0F5F65E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06548-FB9E-7A8D-3889-4AB55601F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9C728-47C7-08B7-CD8E-FD21146B4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71413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9FEAF-937D-C623-8E79-DEFA2113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DD99-6FD4-BCE7-9A1D-262C43703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56B36-FF6F-B5A2-B018-927636A2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B031D-B453-0DFE-7ACD-F0C229488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20D99-BFD4-ABD3-44FC-BF2D89D1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4281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8E66-D5F7-C41C-2899-CA63D93BF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1811E-0554-5681-59A6-A53AF79F0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6E9AD-6325-ECC5-D1C7-E302E511C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F4E0B-D2E5-A7B1-6A52-0E6B551A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E6A91-0E7C-AACE-3472-AA4E3C09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29735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5F4C-5CBE-155A-FDBE-49FBB9C4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43C73-4414-11C5-FBCB-22E2D6DC24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57DD9-09A0-9438-6EE2-A0ECAD9A0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D1020-CEA9-9BE9-DF0C-76D57975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0841D-9AE5-B631-E115-15B9769E6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3E851-7F54-2852-4F70-F8B127EA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66185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5195A-46F9-7725-318C-B82FA19C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8E471-0E94-615E-A53C-500BB7A53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6FB5-8611-C4DE-E238-B528AFA98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684C7-28DC-801D-5435-EE8877B3D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F689A-F7A6-CE20-24C9-209ABE646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B2A850-A8D4-D7F2-C834-55DCD3B5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C1830-DD87-ABF8-EC26-14FC733A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D15F9D-4717-F308-2AF4-631B6D2A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9220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DCB6-F73B-3666-5D9D-137507F4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A14A2-642D-6CD8-BF8B-F03AD96A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C6256E-602A-B02E-3B49-95E32138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9E726-979B-3308-C45E-3AC08C8F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19263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F0E5B4-2143-F44B-3B51-5469A372E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D701F-1924-5B0F-5A8C-CD9FD2D7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E19BE-7F74-217B-CD68-5F032A66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1120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7AB6-07C9-842D-4C5D-A9628C416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36D2C-CBA8-A363-047E-76CA49FE0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91D60-4D67-E35D-7ACB-3B061B546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D1CE7-16C6-23F0-35E6-12A75FF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47A6-D610-E515-1BFA-A429DBEB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F2CDC-A375-7BAE-F790-809CA9E9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0383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50A5-2F32-A349-7157-7043A08A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AB43A1-D0BF-F8AA-B528-4059A4F31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DE641-854A-FC57-1577-777E644CD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91AD8-538E-6303-0F98-F7639AEA8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AD7EB-8C59-989D-A71A-64A8E905C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09903-B173-FF3B-34F5-26079C23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2732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88C22-3967-026B-903F-12CD43A9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4CFB6-5205-2A45-EA75-5079F7977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8F2FD-A0C3-02E9-4886-C616FCC94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A7B7E-B7C5-CD18-B762-AFC463A1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B046E-D41E-01B1-0DDE-38D44DCD0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48796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B019B5-569A-2A62-F981-46BD16D1F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DABA0-2ABC-D2C2-60E6-B1BF71967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039F-DA67-A849-0CCF-F0DF9A09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1E1A0-8EDD-039F-8FDC-CE95B4CA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73A9B-D5D5-8034-AFC5-43772252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041890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274C8-7EE6-62E1-639A-47B6C1A69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CF664-1A15-9D02-3A0E-BA505B91F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F9319-D43F-D14C-CDAC-733E55003A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49461-B530-844B-82E6-2186B2B0EC7D}" type="datetimeFigureOut">
              <a:rPr lang="en-JP" smtClean="0"/>
              <a:t>2025/06/03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3E21-F137-487F-F153-E09665517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BCDDC-4BAD-C925-8D58-BA32A1836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E31CD-1AA8-9249-B6FE-C7F9B8AC77DA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5503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333333"/>
                </a:solidFill>
              </a:rPr>
              <a:t>July 2026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3A73D-DEA2-2911-C89C-F7F829EF4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324" y="2328270"/>
            <a:ext cx="10957994" cy="91065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sz="2000" b="1">
                <a:solidFill>
                  <a:srgbClr val="1A478A"/>
                </a:solidFill>
              </a:rPr>
              <a:t>DEVELOPMENT OF A SECURED MULTI-TENANT
PLATFORM FOR GOVERNMENT ASSETS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CEDCE-6977-67F7-161D-AA72A7B00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6" y="5619435"/>
            <a:ext cx="4592355" cy="11039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sz="1400" b="1">
                <a:solidFill>
                  <a:srgbClr val="333333"/>
                </a:solidFill>
              </a:rPr>
              <a:t>Supervisors: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Ms. Summadile Zulfa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Mr. Deusdedit Mwalongo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9D1DE91-8CEB-92C5-99A7-385D3D45377E}"/>
              </a:ext>
            </a:extLst>
          </p:cNvPr>
          <p:cNvSpPr txBox="1">
            <a:spLocks/>
          </p:cNvSpPr>
          <p:nvPr/>
        </p:nvSpPr>
        <p:spPr>
          <a:xfrm>
            <a:off x="4347148" y="3619078"/>
            <a:ext cx="4377128" cy="1312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333333"/>
                </a:solidFill>
              </a:rPr>
              <a:t>Presented by: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Hemed Zahoro Mohamed  —  30352/T.2023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Bedah Fredrick Kabeho  —  31678/T.2023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B8B3E-E456-2524-D531-16E7CF989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66" t="28211" r="24444" b="25458"/>
          <a:stretch/>
        </p:blipFill>
        <p:spPr>
          <a:xfrm>
            <a:off x="5070851" y="166433"/>
            <a:ext cx="2050297" cy="184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2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EB779-1693-9344-1CC9-F09246C7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A84B-7B9E-6E6D-E718-DF11C871F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1A478A"/>
                </a:solidFill>
              </a:rPr>
              <a:t>01. PROGRESS — OBJECTIVES 3 &amp; 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7F9324-629A-585F-6DC4-343D4BAAE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519915"/>
              </p:ext>
            </p:extLst>
          </p:nvPr>
        </p:nvGraphicFramePr>
        <p:xfrm>
          <a:off x="371730" y="2029388"/>
          <a:ext cx="11550639" cy="2103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738">
                  <a:extLst>
                    <a:ext uri="{9D8B030D-6E8A-4147-A177-3AD203B41FA5}">
                      <a16:colId xmlns:a16="http://schemas.microsoft.com/office/drawing/2014/main" val="3025784480"/>
                    </a:ext>
                  </a:extLst>
                </a:gridCol>
                <a:gridCol w="2400378">
                  <a:extLst>
                    <a:ext uri="{9D8B030D-6E8A-4147-A177-3AD203B41FA5}">
                      <a16:colId xmlns:a16="http://schemas.microsoft.com/office/drawing/2014/main" val="4118426611"/>
                    </a:ext>
                  </a:extLst>
                </a:gridCol>
                <a:gridCol w="2672862">
                  <a:extLst>
                    <a:ext uri="{9D8B030D-6E8A-4147-A177-3AD203B41FA5}">
                      <a16:colId xmlns:a16="http://schemas.microsoft.com/office/drawing/2014/main" val="310681700"/>
                    </a:ext>
                  </a:extLst>
                </a:gridCol>
                <a:gridCol w="4079630">
                  <a:extLst>
                    <a:ext uri="{9D8B030D-6E8A-4147-A177-3AD203B41FA5}">
                      <a16:colId xmlns:a16="http://schemas.microsoft.com/office/drawing/2014/main" val="695837451"/>
                    </a:ext>
                  </a:extLst>
                </a:gridCol>
                <a:gridCol w="1946031">
                  <a:extLst>
                    <a:ext uri="{9D8B030D-6E8A-4147-A177-3AD203B41FA5}">
                      <a16:colId xmlns:a16="http://schemas.microsoft.com/office/drawing/2014/main" val="2800754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JP" sz="2000" dirty="0">
                        <a:latin typeface="PT Serif" panose="020A0603040505020204" pitchFamily="18" charset="7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dirty="0">
                          <a:latin typeface="PT Serif" panose="020A0603040505020204" pitchFamily="18" charset="77"/>
                        </a:rPr>
                        <a:t>Specific Objective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dirty="0">
                          <a:latin typeface="PT Serif" panose="020A0603040505020204" pitchFamily="18" charset="77"/>
                        </a:rPr>
                        <a:t>Research question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JP" sz="2000" b="1" dirty="0">
                          <a:latin typeface="PT Serif" panose="020A0603040505020204" pitchFamily="18" charset="77"/>
                        </a:rPr>
                        <a:t>Methodology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JP" sz="2000" b="1" dirty="0">
                          <a:latin typeface="PT Serif" panose="020A0603040505020204" pitchFamily="18" charset="77"/>
                        </a:rPr>
                        <a:t>Deliverable</a:t>
                      </a:r>
                    </a:p>
                    <a:p>
                      <a:pPr algn="ctr"/>
                      <a:endParaRPr lang="en-JP" sz="2000" b="1" dirty="0">
                        <a:latin typeface="PT Serif" panose="020A0603040505020204" pitchFamily="18" charset="77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742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/>
                      <a:r>
                        <a:rPr sz="900" b="1">
                          <a:solidFill>
                            <a:srgbClr val="333333"/>
                          </a:solidFill>
                        </a:rPr>
                        <a:t>To develop a secured multi-tenant web platform</a:t>
                      </a:r>
                      <a:endParaRPr lang="en-JP" sz="2000" kern="1200" dirty="0">
                        <a:solidFill>
                          <a:schemeClr val="tx1"/>
                        </a:solidFill>
                        <a:latin typeface="PT Serif" panose="020A0603040505020204" pitchFamily="18" charset="77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How to implement a secure multi-tenant
platform for government asset management?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Agile development: Django, DRF,
django-tenants (PostgreSQL schema
isolation), Keycloak (SSO),
SimpleJWT (API security),
HTML/CSS/JS frontend</a:t>
                      </a:r>
                      <a:endParaRPr lang="en-JP" sz="2000" dirty="0">
                        <a:solidFill>
                          <a:srgbClr val="FF5B83"/>
                        </a:solidFill>
                        <a:latin typeface="PT Serif" panose="020A0603040505020204" pitchFamily="18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System prototype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19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</a:rPr>
                        <a:t>To test and validate the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How to ensure the platform meets
security, functionality, and
performance requirements?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</a:rPr>
                        <a:t>Unit testing (pytest-django),
Integration (Postman),
Security testing (OWASP ZAP),
Performance testing (Locust)</a:t>
                      </a:r>
                      <a:endParaRPr lang="en-JP" sz="2000" dirty="0">
                        <a:solidFill>
                          <a:srgbClr val="FF5B83"/>
                        </a:solidFill>
                        <a:latin typeface="PT Serif" panose="020A0603040505020204" pitchFamily="18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</a:rPr>
                        <a:t>Test results &amp;
validated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439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985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95EC6-6B1E-B212-0D69-BAEF4C64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00CF-1A59-EC87-9A0E-8FE344FD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1A478A"/>
                </a:solidFill>
              </a:rPr>
              <a:t>02. SYSTEM PROTOTYPE — KEY FEATURES IMPLEMENTED</a:t>
            </a:r>
            <a:endParaRPr lang="en-JP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AAC439-0D11-016B-7B8E-55BDE4532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sz="1400" b="1">
                <a:solidFill>
                  <a:srgbClr val="006600"/>
                </a:solidFill>
              </a:rPr>
              <a:t>Features Implemented: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Multi-Tenant Architecture — PostgreSQL schema isolation per ministry (django-tenants)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Keycloak SSO Authentication — Single sign-on with 5 role levels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Role-Based Access Control — Each role sees only authorized content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Asset Lifecycle Management — Full CRUD: create, update, transfer, dispose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Tamper-Proof Audit Trail — Every action logged with IP, user, old/new values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REST API for Mobile App — JWT-authenticated endpoints for field officers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Account Lockout — 5 failed attempts = 15-minute lockout (brute-force protection)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Session Management — Django (8h), JWT access (30min), refresh (1 day)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3333"/>
                </a:solidFill>
              </a:rPr>
              <a:t>  •  Department Hierarchy — 3-level org structure: Ministry → Agency → Facility</a:t>
            </a:r>
          </a:p>
        </p:txBody>
      </p:sp>
    </p:spTree>
    <p:extLst>
      <p:ext uri="{BB962C8B-B14F-4D97-AF65-F5344CB8AC3E}">
        <p14:creationId xmlns:p14="http://schemas.microsoft.com/office/powerpoint/2010/main" val="158926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3B30-44D1-4C7D-7002-F3B14A2D0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A5D2-38B9-8A33-7BF4-399E38E1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1A478A"/>
                </a:solidFill>
              </a:rPr>
              <a:t>03. WAY FORWARD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BF8E17-9805-A196-0EF5-046C2CC8A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l"/>
            <a:r>
              <a:rPr sz="1400" b="1">
                <a:solidFill>
                  <a:srgbClr val="CC3333"/>
                </a:solidFill>
              </a:rPr>
              <a:t>Remaining Work (July – August 2026):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</a:rPr>
              <a:t>  •  Complete remaining unit tests and achieve 90%+ code coverage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</a:rPr>
              <a:t>  •  Conduct full OWASP ZAP security scan and fix vulnerabilities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</a:rPr>
              <a:t>  •  Performance testing with Locust (load testing under concurrent users)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</a:rPr>
              <a:t>  •  Deployment preparation — configure production server with SSL/TLS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</a:rPr>
              <a:t>  •  Create user training manuals and system documentation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</a:rPr>
              <a:t>  •  Final system refinement based on supervisor feedback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333333"/>
                </a:solidFill>
              </a:rPr>
              <a:t>  •  Submit final dissertation report and prepare for defense</a:t>
            </a:r>
          </a:p>
        </p:txBody>
      </p:sp>
    </p:spTree>
    <p:extLst>
      <p:ext uri="{BB962C8B-B14F-4D97-AF65-F5344CB8AC3E}">
        <p14:creationId xmlns:p14="http://schemas.microsoft.com/office/powerpoint/2010/main" val="2637106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66D7A3-96A3-A333-815D-102251A2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1537EA9-0754-ADA2-79D5-BBAEAD2CF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5D0951C-1F41-2797-EC33-CFDE68E3F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C4ECECC-3CCC-56E7-CA6C-5F19DA6ED5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>
                <a:latin typeface="PT Serif" panose="020A0603040505020204" pitchFamily="18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3435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112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PT Serif</vt:lpstr>
      <vt:lpstr>Office Theme</vt:lpstr>
      <vt:lpstr>Title: Dissertation Progress Report</vt:lpstr>
      <vt:lpstr>01. Progress</vt:lpstr>
      <vt:lpstr>02. Progress</vt:lpstr>
      <vt:lpstr>03. Way Forward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Dissertaion Progress Report</dc:title>
  <dc:creator>Eunice_David Likotiko</dc:creator>
  <cp:lastModifiedBy>Eunice Likotiko</cp:lastModifiedBy>
  <cp:revision>1</cp:revision>
  <dcterms:created xsi:type="dcterms:W3CDTF">2024-03-27T08:00:01Z</dcterms:created>
  <dcterms:modified xsi:type="dcterms:W3CDTF">2025-06-03T08:49:39Z</dcterms:modified>
</cp:coreProperties>
</file>